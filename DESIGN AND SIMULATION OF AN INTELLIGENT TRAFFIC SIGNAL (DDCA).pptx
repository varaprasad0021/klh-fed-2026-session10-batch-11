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0"/>
  </p:notesMasterIdLst>
  <p:handoutMasterIdLst>
    <p:handoutMasterId r:id="rId11"/>
  </p:handoutMasterIdLst>
  <p:sldIdLst>
    <p:sldId id="257" r:id="rId5"/>
    <p:sldId id="258" r:id="rId6"/>
    <p:sldId id="259" r:id="rId7"/>
    <p:sldId id="260" r:id="rId8"/>
    <p:sldId id="261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704" autoAdjust="0"/>
  </p:normalViewPr>
  <p:slideViewPr>
    <p:cSldViewPr snapToGrid="0">
      <p:cViewPr>
        <p:scale>
          <a:sx n="50" d="100"/>
          <a:sy n="50" d="100"/>
        </p:scale>
        <p:origin x="24" y="-3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79" d="100"/>
          <a:sy n="79" d="100"/>
        </p:scale>
        <p:origin x="2346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DC2751-278C-4682-9C3F-0FF7B4FCFAE7}" type="datetimeFigureOut">
              <a:rPr lang="en-US" smtClean="0"/>
              <a:t>8/27/2026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286890-466E-41CD-A28A-B1EBDF22CA3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629427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FF0845-D09E-4AF9-9623-EA7EA0297EF3}" type="datetimeFigureOut">
              <a:rPr lang="en-US" smtClean="0"/>
              <a:t>8/27/2026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7CD11A-EED3-40CE-98A3-28FEE84867B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5761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7CD11A-EED3-40CE-98A3-28FEE84867B3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11602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 bwMode="inv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041400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9693A-2307-4FDC-9539-08DC9083DDED}" type="datetime1">
              <a:rPr lang="en-US" smtClean="0"/>
              <a:t>8/27/2026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29C50-D6F1-4DB6-9B68-F4CD3996E9C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94068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0E1C1-C26F-4479-A8BD-144B4C139DA5}" type="datetime1">
              <a:rPr lang="en-US" smtClean="0"/>
              <a:t>8/27/2026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29C50-D6F1-4DB6-9B68-F4CD3996E9C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1943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709738"/>
            <a:ext cx="10515600" cy="2862262"/>
          </a:xfrm>
        </p:spPr>
        <p:txBody>
          <a:bodyPr anchor="b"/>
          <a:lstStyle>
            <a:lvl1pPr>
              <a:lnSpc>
                <a:spcPct val="100000"/>
              </a:lnSpc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4589463"/>
            <a:ext cx="10515600" cy="1500187"/>
          </a:xfrm>
        </p:spPr>
        <p:txBody>
          <a:bodyPr/>
          <a:lstStyle>
            <a:lvl1pPr marL="0" indent="0">
              <a:buNone/>
              <a:defRPr sz="2400" b="1">
                <a:solidFill>
                  <a:schemeClr val="tx2">
                    <a:lumMod val="50000"/>
                  </a:schemeClr>
                </a:solidFill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19E61-C2D6-49AB-83F2-8FC9FEFBDAFD}" type="datetime1">
              <a:rPr lang="en-US" smtClean="0"/>
              <a:t>8/27/2026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29C50-D6F1-4DB6-9B68-F4CD3996E9C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12727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7200" y="1825625"/>
            <a:ext cx="4892040" cy="435133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baseline="0" noProof="0" dirty="0" smtClean="0">
                <a:solidFill>
                  <a:schemeClr val="bg1"/>
                </a:solidFill>
              </a:defRPr>
            </a:lvl1pPr>
            <a:lvl2pPr>
              <a:defRPr lang="en-US" baseline="0" noProof="0" dirty="0" smtClean="0">
                <a:solidFill>
                  <a:schemeClr val="bg1"/>
                </a:solidFill>
              </a:defRPr>
            </a:lvl2pPr>
            <a:lvl3pPr>
              <a:defRPr lang="en-US" baseline="0" noProof="0" dirty="0" smtClean="0">
                <a:solidFill>
                  <a:schemeClr val="bg1"/>
                </a:solidFill>
              </a:defRPr>
            </a:lvl3pPr>
            <a:lvl4pPr>
              <a:defRPr lang="en-US" baseline="0" noProof="0" dirty="0" smtClean="0">
                <a:solidFill>
                  <a:schemeClr val="bg1"/>
                </a:solidFill>
              </a:defRPr>
            </a:lvl4pPr>
            <a:lvl5pPr>
              <a:defRPr lang="en-US" baseline="0" noProof="0" dirty="0" smtClean="0">
                <a:solidFill>
                  <a:schemeClr val="bg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E9E5DC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5650524" y="1825625"/>
            <a:ext cx="4892040" cy="435133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 smtClean="0"/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noProof="0" dirty="0" smtClean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E9E5DC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BE74F-367A-4D3C-8AA7-FA60CCA05EAE}" type="datetime1">
              <a:rPr lang="en-US" smtClean="0"/>
              <a:t>8/27/2026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29C50-D6F1-4DB6-9B68-F4CD3996E9C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39307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39150"/>
            <a:ext cx="10094976" cy="115214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28800"/>
            <a:ext cx="4892040" cy="6413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57200" y="2498723"/>
            <a:ext cx="4892040" cy="3101977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 smtClean="0"/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noProof="0" dirty="0" smtClean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E9E5DC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753" y="1828800"/>
            <a:ext cx="4892040" cy="6413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5656753" y="2498723"/>
            <a:ext cx="4892040" cy="3101977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 smtClean="0"/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noProof="0" dirty="0" smtClean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E9E5DC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E3F9C-6465-4987-8E4E-615CFD4753AA}" type="datetime1">
              <a:rPr lang="en-US" smtClean="0"/>
              <a:t>8/27/2026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29C50-D6F1-4DB6-9B68-F4CD3996E9C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56610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9EFD6-3C20-43C6-9E75-1A9D48D9576F}" type="datetime1">
              <a:rPr lang="en-US" smtClean="0"/>
              <a:t>8/27/2026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29C50-D6F1-4DB6-9B68-F4CD3996E9C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38583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93D5A-A484-46EE-9DC8-9A16BFF8327E}" type="datetime1">
              <a:rPr lang="en-US" smtClean="0"/>
              <a:t>8/27/2026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29C50-D6F1-4DB6-9B68-F4CD3996E9C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76057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09599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800600" y="987425"/>
            <a:ext cx="5753100" cy="461327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 smtClean="0"/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noProof="0" dirty="0" smtClean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E9E5DC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254249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87BC8-78D1-4FEB-9D4F-E22E45CC04F7}" type="datetime1">
              <a:rPr lang="en-US" smtClean="0"/>
              <a:t>8/27/2026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29C50-D6F1-4DB6-9B68-F4CD3996E9C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77217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09599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>
          <a:xfrm>
            <a:off x="4800600" y="987425"/>
            <a:ext cx="5753100" cy="46132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254249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68210-870C-4A62-9D1B-4B25162550AB}" type="datetime1">
              <a:rPr lang="en-US" smtClean="0"/>
              <a:t>8/27/2026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29C50-D6F1-4DB6-9B68-F4CD3996E9C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95761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11EA7-B10E-4739-92FE-8993461CC0B7}" type="datetime1">
              <a:rPr lang="en-US" smtClean="0"/>
              <a:t>8/27/2026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29C50-D6F1-4DB6-9B68-F4CD3996E9C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95428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91661"/>
            <a:ext cx="2628900" cy="4909039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691661"/>
            <a:ext cx="7734300" cy="4909039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DC13F-2D2A-49BA-966D-6530A12E7C15}" type="datetime1">
              <a:rPr lang="en-US" smtClean="0"/>
              <a:t>8/27/2026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29C50-D6F1-4DB6-9B68-F4CD3996E9C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2500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invGray"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39793"/>
            <a:ext cx="10096500" cy="11509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25625"/>
            <a:ext cx="10096500" cy="37780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00CABDA2-EB00-4A4D-86B7-63E286A484E5}" type="datetime1">
              <a:rPr lang="en-US" smtClean="0"/>
              <a:t>8/27/2026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7200" y="6356350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E5B29C50-D6F1-4DB6-9B68-F4CD3996E9C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6484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lnSpc>
          <a:spcPts val="4000"/>
        </a:lnSpc>
        <a:spcBef>
          <a:spcPct val="0"/>
        </a:spcBef>
        <a:buNone/>
        <a:defRPr sz="4000" b="1" kern="1200" cap="none" spc="0">
          <a:ln w="12700" cmpd="sng">
            <a:noFill/>
            <a:prstDash val="solid"/>
          </a:ln>
          <a:solidFill>
            <a:schemeClr val="accent4">
              <a:lumMod val="50000"/>
            </a:schemeClr>
          </a:solidFill>
          <a:effectLst>
            <a:outerShdw blurRad="38100" dist="38100" dir="2700000" algn="tl">
              <a:srgbClr val="000000">
                <a:alpha val="43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ct val="30000"/>
        </a:spcBef>
        <a:buClr>
          <a:schemeClr val="bg1"/>
        </a:buClr>
        <a:buSzPct val="70000"/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ct val="30000"/>
        </a:spcBef>
        <a:buClr>
          <a:schemeClr val="bg1"/>
        </a:buClr>
        <a:buSzPct val="70000"/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ct val="30000"/>
        </a:spcBef>
        <a:buClr>
          <a:schemeClr val="bg1"/>
        </a:buClr>
        <a:buSzPct val="70000"/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ct val="30000"/>
        </a:spcBef>
        <a:buClr>
          <a:schemeClr val="bg1"/>
        </a:buClr>
        <a:buSzPct val="70000"/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ct val="30000"/>
        </a:spcBef>
        <a:buClr>
          <a:schemeClr val="bg1"/>
        </a:buClr>
        <a:buSzPct val="70000"/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30000"/>
        </a:spcBef>
        <a:buClr>
          <a:schemeClr val="bg1"/>
        </a:buClr>
        <a:buSzPct val="70000"/>
        <a:buFont typeface="Arial" panose="020B0604020202020204" pitchFamily="34" charset="0"/>
        <a:buChar char="•"/>
        <a:defRPr sz="1800" kern="1200">
          <a:solidFill>
            <a:schemeClr val="bg2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30000"/>
        </a:spcBef>
        <a:buClr>
          <a:schemeClr val="bg1"/>
        </a:buClr>
        <a:buSzPct val="70000"/>
        <a:buFont typeface="Arial" panose="020B0604020202020204" pitchFamily="34" charset="0"/>
        <a:buChar char="•"/>
        <a:defRPr sz="1800" kern="1200">
          <a:solidFill>
            <a:schemeClr val="bg2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30000"/>
        </a:spcBef>
        <a:buClr>
          <a:schemeClr val="bg1"/>
        </a:buClr>
        <a:buSzPct val="70000"/>
        <a:buFont typeface="Arial" panose="020B0604020202020204" pitchFamily="34" charset="0"/>
        <a:buChar char="•"/>
        <a:defRPr sz="1800" kern="1200">
          <a:solidFill>
            <a:schemeClr val="bg2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30000"/>
        </a:spcBef>
        <a:buClr>
          <a:schemeClr val="bg1"/>
        </a:buClr>
        <a:buSzPct val="70000"/>
        <a:buFont typeface="Arial" panose="020B0604020202020204" pitchFamily="34" charset="0"/>
        <a:buChar char="•"/>
        <a:defRPr sz="1800" kern="1200">
          <a:solidFill>
            <a:schemeClr val="bg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0" orient="horz" pos="2160" userDrawn="1">
          <p15:clr>
            <a:srgbClr val="F26B43"/>
          </p15:clr>
        </p15:guide>
        <p15:guide id="1" pos="3840" userDrawn="1">
          <p15:clr>
            <a:srgbClr val="F26B43"/>
          </p15:clr>
        </p15:guide>
        <p15:guide id="2" pos="288" userDrawn="1">
          <p15:clr>
            <a:srgbClr val="F26B43"/>
          </p15:clr>
        </p15:guide>
        <p15:guide id="3" pos="6648" userDrawn="1">
          <p15:clr>
            <a:srgbClr val="F26B43"/>
          </p15:clr>
        </p15:guide>
        <p15:guide id="4" orient="horz" pos="3528" userDrawn="1">
          <p15:clr>
            <a:srgbClr val="F26B43"/>
          </p15:clr>
        </p15:guide>
        <p15:guide id="5" orient="horz" pos="112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Grp="1" noChangeArrowheads="1"/>
          </p:cNvSpPr>
          <p:nvPr>
            <p:ph type="ctrTitle"/>
          </p:nvPr>
        </p:nvSpPr>
        <p:spPr bwMode="auto">
          <a:xfrm>
            <a:off x="344556" y="1415310"/>
            <a:ext cx="11847444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36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Castellar" panose="020A0402060406010301" pitchFamily="18" charset="0"/>
              </a:rPr>
              <a:t>DESIGN AND SIMULATION OF AN INTELLIGENT TRAFFIC SIGNAL DECISION SYSTEM USING COMBINATIONAL LOGIC</a:t>
            </a:r>
            <a:r>
              <a:rPr kumimoji="0" lang="en-US" sz="36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sz="36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lang="en-US" sz="3600" b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/>
            </a:r>
            <a:br>
              <a:rPr lang="en-US" sz="3600" b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lang="en-US" sz="3600" b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Presented by                                  </a:t>
            </a:r>
            <a:r>
              <a:rPr lang="en-US" sz="3600" b="0" dirty="0" smtClean="0">
                <a:ln>
                  <a:noFill/>
                </a:ln>
                <a:solidFill>
                  <a:srgbClr val="92D050"/>
                </a:solidFill>
                <a:effectLst/>
                <a:latin typeface="Arial" panose="020B0604020202020204" pitchFamily="34" charset="0"/>
              </a:rPr>
              <a:t>under the Supervisor:</a:t>
            </a:r>
            <a:br>
              <a:rPr lang="en-US" sz="3600" b="0" dirty="0" smtClean="0">
                <a:ln>
                  <a:noFill/>
                </a:ln>
                <a:solidFill>
                  <a:srgbClr val="92D050"/>
                </a:solidFill>
                <a:effectLst/>
                <a:latin typeface="Arial" panose="020B0604020202020204" pitchFamily="34" charset="0"/>
              </a:rPr>
            </a:br>
            <a:r>
              <a:rPr lang="en-US" sz="3600" b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Group details</a:t>
            </a:r>
            <a:r>
              <a:rPr lang="en-US" sz="3600" b="0" dirty="0" smtClean="0">
                <a:ln>
                  <a:noFill/>
                </a:ln>
                <a:solidFill>
                  <a:srgbClr val="92D050"/>
                </a:solidFill>
                <a:effectLst/>
                <a:latin typeface="Arial" panose="020B0604020202020204" pitchFamily="34" charset="0"/>
              </a:rPr>
              <a:t>:                                                 Rahul LR </a:t>
            </a:r>
            <a:r>
              <a:rPr lang="en-US" sz="2000" b="0" dirty="0" smtClean="0">
                <a:ln>
                  <a:noFill/>
                </a:ln>
                <a:solidFill>
                  <a:srgbClr val="92D050"/>
                </a:solidFill>
                <a:effectLst/>
                <a:latin typeface="Arial" panose="020B0604020202020204" pitchFamily="34" charset="0"/>
              </a:rPr>
              <a:t>sir</a:t>
            </a:r>
            <a:r>
              <a:rPr lang="en-US" sz="3600" b="0" dirty="0" smtClean="0">
                <a:ln>
                  <a:noFill/>
                </a:ln>
                <a:solidFill>
                  <a:srgbClr val="92D050"/>
                </a:solidFill>
                <a:effectLst/>
                <a:latin typeface="Arial" panose="020B0604020202020204" pitchFamily="34" charset="0"/>
              </a:rPr>
              <a:t/>
            </a:r>
            <a:br>
              <a:rPr lang="en-US" sz="3600" b="0" dirty="0" smtClean="0">
                <a:ln>
                  <a:noFill/>
                </a:ln>
                <a:solidFill>
                  <a:srgbClr val="92D050"/>
                </a:solidFill>
                <a:effectLst/>
                <a:latin typeface="Arial" panose="020B0604020202020204" pitchFamily="34" charset="0"/>
              </a:rPr>
            </a:br>
            <a:r>
              <a:rPr lang="en-US" sz="2000" b="0" dirty="0" smtClean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GUDURU SAHASRA 2620090001</a:t>
            </a:r>
            <a:r>
              <a:rPr lang="en-US" sz="2000" b="0" dirty="0" smtClean="0">
                <a:ln>
                  <a:noFill/>
                </a:ln>
                <a:solidFill>
                  <a:srgbClr val="92D050"/>
                </a:solidFill>
                <a:effectLst/>
                <a:latin typeface="Arial" panose="020B0604020202020204" pitchFamily="34" charset="0"/>
              </a:rPr>
              <a:t>                                                                  </a:t>
            </a:r>
            <a:r>
              <a:rPr lang="en-US" sz="3600" b="0" dirty="0" smtClean="0">
                <a:ln>
                  <a:noFill/>
                </a:ln>
                <a:solidFill>
                  <a:srgbClr val="92D050"/>
                </a:solidFill>
                <a:effectLst/>
                <a:latin typeface="Arial" panose="020B0604020202020204" pitchFamily="34" charset="0"/>
              </a:rPr>
              <a:t>subject: DDCA</a:t>
            </a:r>
            <a:br>
              <a:rPr lang="en-US" sz="3600" b="0" dirty="0" smtClean="0">
                <a:ln>
                  <a:noFill/>
                </a:ln>
                <a:solidFill>
                  <a:srgbClr val="92D050"/>
                </a:solidFill>
                <a:effectLst/>
                <a:latin typeface="Arial" panose="020B0604020202020204" pitchFamily="34" charset="0"/>
              </a:rPr>
            </a:br>
            <a:r>
              <a:rPr lang="en-US" sz="2000" b="0" dirty="0" smtClean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AKSHAYA MARRI 2620090011</a:t>
            </a:r>
            <a:br>
              <a:rPr lang="en-US" sz="2000" b="0" dirty="0" smtClean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</a:br>
            <a:r>
              <a:rPr lang="en-US" sz="2000" b="0" dirty="0" smtClean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S N DARSHAN 2620090099</a:t>
            </a:r>
            <a:br>
              <a:rPr lang="en-US" sz="2000" b="0" dirty="0" smtClean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</a:br>
            <a:r>
              <a:rPr lang="en-US" sz="2000" b="0" dirty="0" smtClean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E V VARA PRASAD 2620030676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rgbClr val="00B0F0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7" name="Picture 3" descr="A Complete Guide to Traffic Signals in India: Rules, Fines &amp; Safety Tip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6279" y="384313"/>
            <a:ext cx="2610678" cy="1497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5" descr="Chennai to roll out AI-powered adaptive traffic signals at 165 junctions -  Telangana Today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21618" y="2507613"/>
            <a:ext cx="1400865" cy="8103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908815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 rot="10800000" flipH="1" flipV="1">
            <a:off x="476250" y="46376"/>
            <a:ext cx="8553450" cy="6370975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4800" dirty="0" smtClean="0">
                <a:solidFill>
                  <a:srgbClr val="FFFF00"/>
                </a:solidFill>
              </a:rPr>
              <a:t>INTRODUCTION</a:t>
            </a:r>
          </a:p>
          <a:p>
            <a:r>
              <a:rPr lang="en-US" sz="3600" dirty="0"/>
              <a:t>Traffic congestion at intersections is a major issue in urban areas. An Intelligent Traffic Signal Decision System adjusts the signal timing based on the presence of vehicles in different directions</a:t>
            </a:r>
            <a:r>
              <a:rPr lang="en-US" sz="3600" dirty="0" smtClean="0"/>
              <a:t>.</a:t>
            </a:r>
          </a:p>
          <a:p>
            <a:r>
              <a:rPr lang="en-US" sz="3600" dirty="0" smtClean="0"/>
              <a:t> </a:t>
            </a:r>
            <a:r>
              <a:rPr lang="en-US" sz="3600" dirty="0"/>
              <a:t>This project uses combinational logic to design a smart traffic signal controller that gives priority to the direction with higher vehicle density. reducing unnecessary waiting time</a:t>
            </a:r>
            <a:r>
              <a:rPr lang="en-US" sz="3600" dirty="0" smtClean="0"/>
              <a:t>.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0600" y="862012"/>
            <a:ext cx="3390900" cy="5176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31502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4139" y="279599"/>
            <a:ext cx="5094839" cy="274935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 flipH="1">
            <a:off x="0" y="279599"/>
            <a:ext cx="6944139" cy="587853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srgbClr val="FFFF00"/>
                </a:solidFill>
              </a:rPr>
              <a:t>2.OBJECTIVE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To design a combinational logic circuit that decides which direction gets Green signal</a:t>
            </a:r>
            <a:r>
              <a:rPr lang="en-US" sz="2000" dirty="0" smtClean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To </a:t>
            </a:r>
            <a:r>
              <a:rPr lang="en-US" sz="2000" dirty="0"/>
              <a:t>reduce waiting time by giving priority based on vehicle presence</a:t>
            </a:r>
            <a:r>
              <a:rPr lang="en-US" sz="2000" dirty="0" smtClean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To </a:t>
            </a:r>
            <a:r>
              <a:rPr lang="en-US" sz="2000" dirty="0"/>
              <a:t>simulate and verify the system using logic simulation software</a:t>
            </a:r>
            <a:r>
              <a:rPr lang="en-US" sz="2000" dirty="0" smtClean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To </a:t>
            </a:r>
            <a:r>
              <a:rPr lang="en-US" sz="2000" dirty="0"/>
              <a:t>make the traffic flow more efficient and reduce </a:t>
            </a:r>
            <a:r>
              <a:rPr lang="en-US" sz="2000" dirty="0" smtClean="0"/>
              <a:t>congestion</a:t>
            </a:r>
          </a:p>
          <a:p>
            <a:r>
              <a:rPr lang="en-US" sz="2800" dirty="0" smtClean="0">
                <a:solidFill>
                  <a:srgbClr val="FFFF00"/>
                </a:solidFill>
              </a:rPr>
              <a:t>3.SYSTEM DESCRIPTION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Each road direction (North, South, East, West) has a vehicle sensor</a:t>
            </a:r>
            <a:r>
              <a:rPr lang="en-US" sz="2000" dirty="0" smtClean="0"/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Sensor output = 1→ Vehicle present </a:t>
            </a:r>
            <a:endParaRPr lang="en-US" sz="20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 smtClean="0"/>
              <a:t>Sensor </a:t>
            </a:r>
            <a:r>
              <a:rPr lang="en-US" sz="2000" dirty="0"/>
              <a:t>output = 0→ No </a:t>
            </a:r>
            <a:r>
              <a:rPr lang="en-US" sz="2000" dirty="0" smtClean="0"/>
              <a:t>vehicle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The combinational logic circuit decides which direction gets </a:t>
            </a:r>
            <a:r>
              <a:rPr lang="en-US" sz="2000" dirty="0" smtClean="0"/>
              <a:t>Green. Only </a:t>
            </a:r>
            <a:r>
              <a:rPr lang="en-US" sz="2000" dirty="0"/>
              <a:t>one direction is given Green at a time; others get Red</a:t>
            </a:r>
            <a:r>
              <a:rPr lang="en-US" sz="2000" dirty="0" smtClean="0"/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Priority is given in the order: North &gt; South &gt; East &gt; West(if multiple directions have vehicles)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0370" y="3255278"/>
            <a:ext cx="4958608" cy="2902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74552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4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7000" y="685800"/>
            <a:ext cx="5774580" cy="32258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4880" y="1003301"/>
            <a:ext cx="5613400" cy="32258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97100" y="4025899"/>
            <a:ext cx="8782050" cy="26701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715420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275" y="263525"/>
            <a:ext cx="6871653" cy="306387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0625" y="3492500"/>
            <a:ext cx="10039350" cy="28194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20674"/>
            <a:ext cx="5118100" cy="294957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70252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Vertical Lexicon design template">
  <a:themeElements>
    <a:clrScheme name="Orange Red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Calibri">
      <a:maj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/>
      </a:spPr>
      <a:bodyPr rtlCol="0" anchor="ctr"/>
      <a:lstStyle>
        <a:defPPr algn="ctr">
          <a:defRPr dirty="0"/>
        </a:defPPr>
      </a:lstStyle>
      <a:style>
        <a:lnRef idx="2">
          <a:schemeClr val="accent2">
            <a:shade val="50000"/>
          </a:schemeClr>
        </a:lnRef>
        <a:fillRef idx="1">
          <a:schemeClr val="accent2"/>
        </a:fillRef>
        <a:effectRef idx="0">
          <a:schemeClr val="accent2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accent2"/>
        </a:lnRef>
        <a:fillRef idx="0">
          <a:schemeClr val="accent2"/>
        </a:fillRef>
        <a:effectRef idx="0">
          <a:schemeClr val="accent2"/>
        </a:effectRef>
        <a:fontRef idx="minor">
          <a:schemeClr val="tx1"/>
        </a:fontRef>
      </a:style>
    </a:lnDef>
    <a:txDef>
      <a:spPr>
        <a:noFill/>
        <a:ln>
          <a:solidFill>
            <a:schemeClr val="tx2"/>
          </a:solidFill>
        </a:ln>
      </a:spPr>
      <a:bodyPr wrap="none" rtlCol="0">
        <a:spAutoFit/>
      </a:bodyPr>
      <a:lstStyle>
        <a:defPPr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Vertical lexicon design slides.potx" id="{49C7086D-B6BF-42C9-B2E9-7A6F5A963EAA}" vid="{839E83B1-FF0C-49E8-8563-59D864F05AE3}"/>
    </a:ext>
  </a:extLst>
</a:theme>
</file>

<file path=ppt/theme/theme2.xml><?xml version="1.0" encoding="utf-8"?>
<a:theme xmlns:a="http://schemas.openxmlformats.org/drawingml/2006/main" name="Office Theme">
  <a:themeElements>
    <a:clrScheme name="Orange Red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Calibri">
      <a:maj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range Red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Calibri">
      <a:maj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A3F7D94069FF64A86F7DFF56D60E3BE" ma:contentTypeVersion="6" ma:contentTypeDescription="Create a new document." ma:contentTypeScope="" ma:versionID="c32302c77d4085ecf495bdddb7f5e889">
  <xsd:schema xmlns:xsd="http://www.w3.org/2001/XMLSchema" xmlns:xs="http://www.w3.org/2001/XMLSchema" xmlns:p="http://schemas.microsoft.com/office/2006/metadata/properties" xmlns:ns2="a4f35948-e619-41b3-aa29-22878b09cfd2" xmlns:ns3="40262f94-9f35-4ac3-9a90-690165a166b7" targetNamespace="http://schemas.microsoft.com/office/2006/metadata/properties" ma:root="true" ma:fieldsID="4ab5ae46be95f9d0be6107e8200be7a2" ns2:_="" ns3:_="">
    <xsd:import namespace="a4f35948-e619-41b3-aa29-22878b09cfd2"/>
    <xsd:import namespace="40262f94-9f35-4ac3-9a90-690165a166b7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VSO_x0020_item_x0020_id" minOccurs="0"/>
                <xsd:element ref="ns3:Item_x0020_Details" minOccurs="0"/>
                <xsd:element ref="ns3:Template_x0020_details" minOccurs="0"/>
                <xsd:element ref="ns3:Assetid_x0020_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4f35948-e619-41b3-aa29-22878b09cfd2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0262f94-9f35-4ac3-9a90-690165a166b7" elementFormDefault="qualified">
    <xsd:import namespace="http://schemas.microsoft.com/office/2006/documentManagement/types"/>
    <xsd:import namespace="http://schemas.microsoft.com/office/infopath/2007/PartnerControls"/>
    <xsd:element name="VSO_x0020_item_x0020_id" ma:index="10" nillable="true" ma:displayName="VSO item id" ma:description="Please add the bug number to refer to VSO items." ma:internalName="VSO_x0020_item_x0020_id">
      <xsd:simpleType>
        <xsd:restriction base="dms:Text">
          <xsd:maxLength value="255"/>
        </xsd:restriction>
      </xsd:simpleType>
    </xsd:element>
    <xsd:element name="Item_x0020_Details" ma:index="11" nillable="true" ma:displayName="Item Details" ma:internalName="Item_x0020_Details">
      <xsd:simpleType>
        <xsd:restriction base="dms:Note">
          <xsd:maxLength value="255"/>
        </xsd:restriction>
      </xsd:simpleType>
    </xsd:element>
    <xsd:element name="Template_x0020_details" ma:index="12" nillable="true" ma:displayName="Template details" ma:internalName="Template_x0020_details">
      <xsd:simpleType>
        <xsd:restriction base="dms:Text"/>
      </xsd:simpleType>
    </xsd:element>
    <xsd:element name="Assetid_x0020_" ma:index="13" nillable="true" ma:displayName="Assetid " ma:internalName="Assetid_x0020_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VSO_x0020_item_x0020_id xmlns="40262f94-9f35-4ac3-9a90-690165a166b7" xsi:nil="true"/>
    <Assetid_x0020_ xmlns="40262f94-9f35-4ac3-9a90-690165a166b7" xsi:nil="true"/>
    <Item_x0020_Details xmlns="40262f94-9f35-4ac3-9a90-690165a166b7" xsi:nil="true"/>
    <Template_x0020_details xmlns="40262f94-9f35-4ac3-9a90-690165a166b7" xsi:nil="true"/>
  </documentManagement>
</p:properties>
</file>

<file path=customXml/itemProps1.xml><?xml version="1.0" encoding="utf-8"?>
<ds:datastoreItem xmlns:ds="http://schemas.openxmlformats.org/officeDocument/2006/customXml" ds:itemID="{05EEE0F9-7BC9-4998-8617-7CC115AD97E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BEBB951-DE64-4CB8-9E1C-184A357AD7F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4f35948-e619-41b3-aa29-22878b09cfd2"/>
    <ds:schemaRef ds:uri="40262f94-9f35-4ac3-9a90-690165a166b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A1BD8E5-A18E-435C-B431-90A6B59F4B6F}">
  <ds:schemaRefs>
    <ds:schemaRef ds:uri="http://purl.org/dc/elements/1.1/"/>
    <ds:schemaRef ds:uri="http://purl.org/dc/terms/"/>
    <ds:schemaRef ds:uri="a4f35948-e619-41b3-aa29-22878b09cfd2"/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http://schemas.microsoft.com/office/2006/metadata/properties"/>
    <ds:schemaRef ds:uri="40262f94-9f35-4ac3-9a90-690165a166b7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Vertical lexicon design slides</Template>
  <TotalTime>185</TotalTime>
  <Words>200</Words>
  <Application>Microsoft Office PowerPoint</Application>
  <PresentationFormat>Widescreen</PresentationFormat>
  <Paragraphs>16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Castellar</vt:lpstr>
      <vt:lpstr>Vertical Lexicon design template</vt:lpstr>
      <vt:lpstr>DESIGN AND SIMULATION OF AN INTELLIGENT TRAFFIC SIGNAL DECISION SYSTEM USING COMBINATIONAL LOGIC  Presented by                                  under the Supervisor: Group details:                                                 Rahul LR sir GUDURU SAHASRA 2620090001                                                                  subject: DDCA AKSHAYA MARRI 2620090011 S N DARSHAN 2620090099 E V VARA PRASAD 2620030676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AND SIMULATION OF AN INTELLIGENT TRAFFIC SIGNAL DECISION SYSTEM USING COMBINATIONAL LOGIC</dc:title>
  <dc:creator>Microsoft account</dc:creator>
  <cp:lastModifiedBy>Microsoft account</cp:lastModifiedBy>
  <cp:revision>17</cp:revision>
  <dcterms:created xsi:type="dcterms:W3CDTF">2026-08-25T12:25:35Z</dcterms:created>
  <dcterms:modified xsi:type="dcterms:W3CDTF">2026-08-27T04:21:05Z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Order">
    <vt:r8>74067900</vt:r8>
  </property>
  <property fmtid="{D5CDD505-2E9C-101B-9397-08002B2CF9AE}" pid="4" name="HiddenCategoryTags">
    <vt:lpwstr/>
  </property>
  <property fmtid="{D5CDD505-2E9C-101B-9397-08002B2CF9AE}" pid="5" name="InternalTags">
    <vt:lpwstr/>
  </property>
  <property fmtid="{D5CDD505-2E9C-101B-9397-08002B2CF9AE}" pid="6" name="FeatureTags">
    <vt:lpwstr/>
  </property>
  <property fmtid="{D5CDD505-2E9C-101B-9397-08002B2CF9AE}" pid="7" name="LocalizationTags">
    <vt:lpwstr/>
  </property>
  <property fmtid="{D5CDD505-2E9C-101B-9397-08002B2CF9AE}" pid="8" name="CategoryTags">
    <vt:lpwstr/>
  </property>
  <property fmtid="{D5CDD505-2E9C-101B-9397-08002B2CF9AE}" pid="9" name="Applications">
    <vt:lpwstr/>
  </property>
  <property fmtid="{D5CDD505-2E9C-101B-9397-08002B2CF9AE}" pid="10" name="CampaignTags">
    <vt:lpwstr/>
  </property>
  <property fmtid="{D5CDD505-2E9C-101B-9397-08002B2CF9AE}" pid="11" name="ScenarioTags">
    <vt:lpwstr/>
  </property>
</Properties>
</file>